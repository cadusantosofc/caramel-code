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56" r:id="rId5"/>
    <p:sldId id="259" r:id="rId6"/>
    <p:sldId id="260" r:id="rId7"/>
    <p:sldId id="261" r:id="rId8"/>
    <p:sldId id="262" r:id="rId9"/>
    <p:sldId id="263" r:id="rId10"/>
    <p:sldId id="264" r:id="rId11"/>
    <p:sldId id="25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26663-99B8-AA82-7209-CB5EC2AF0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691" y="3039749"/>
            <a:ext cx="11462327" cy="1255160"/>
          </a:xfrm>
        </p:spPr>
        <p:txBody>
          <a:bodyPr anchor="ctr">
            <a:noAutofit/>
          </a:bodyPr>
          <a:lstStyle>
            <a:lvl1pPr algn="ctr">
              <a:defRPr sz="40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44FA42-8B92-33FD-8571-E6D952635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691" y="4396509"/>
            <a:ext cx="11462327" cy="106218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74508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drão Etec_C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0D21D-D611-E20A-5BB6-DF507C0A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518" y="280988"/>
            <a:ext cx="9134019" cy="96202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CDAF1B-6E50-575B-A346-E0D8C47D6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47BD500-92EA-214B-A3C0-F95D2E103BEE}"/>
              </a:ext>
            </a:extLst>
          </p:cNvPr>
          <p:cNvGrpSpPr/>
          <p:nvPr userDrawn="1"/>
        </p:nvGrpSpPr>
        <p:grpSpPr>
          <a:xfrm>
            <a:off x="9899537" y="0"/>
            <a:ext cx="2292463" cy="1095375"/>
            <a:chOff x="9899537" y="0"/>
            <a:chExt cx="2292463" cy="1095375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525DB479-37BE-31F2-FD1B-79713E1A32D0}"/>
                </a:ext>
              </a:extLst>
            </p:cNvPr>
            <p:cNvSpPr/>
            <p:nvPr userDrawn="1"/>
          </p:nvSpPr>
          <p:spPr>
            <a:xfrm>
              <a:off x="11096625" y="209550"/>
              <a:ext cx="895350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 descr="Logotipo&#10;&#10;Descrição gerada automaticamente">
              <a:extLst>
                <a:ext uri="{FF2B5EF4-FFF2-40B4-BE49-F238E27FC236}">
                  <a16:creationId xmlns:a16="http://schemas.microsoft.com/office/drawing/2014/main" id="{8259D623-1E51-561B-30EB-20ABA3AA38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9537" y="0"/>
              <a:ext cx="2292463" cy="1095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1871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FI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140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ABEDF5-C44B-2E16-1A73-31EFDBBED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518" y="280988"/>
            <a:ext cx="9372257" cy="962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678FFF-40FF-4259-4FF5-B768121E6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518" y="1758950"/>
            <a:ext cx="10660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5987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5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3ED08-4DE6-5780-4EAE-821F76F3F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691" y="2904367"/>
            <a:ext cx="11462326" cy="1393902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r>
              <a:rPr lang="pt-BR" dirty="0" err="1"/>
              <a:t>Caramel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: </a:t>
            </a:r>
            <a:r>
              <a:rPr lang="pt-BR" b="0" dirty="0"/>
              <a:t>Aplicativo Educacional para Aprender Lógica e Algoritmos</a:t>
            </a:r>
            <a:br>
              <a:rPr lang="pt-BR" dirty="0"/>
            </a:br>
            <a:br>
              <a:rPr lang="pt-BR" dirty="0"/>
            </a:br>
            <a:endParaRPr lang="pt-BR" sz="2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80A53A-A2DD-EC57-8217-F7D97EC4C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691" y="4414438"/>
            <a:ext cx="11462327" cy="1062181"/>
          </a:xfrm>
        </p:spPr>
        <p:txBody>
          <a:bodyPr>
            <a:normAutofit fontScale="85000" lnSpcReduction="20000"/>
          </a:bodyPr>
          <a:lstStyle/>
          <a:p>
            <a:endParaRPr lang="pt-BR" sz="1800" dirty="0"/>
          </a:p>
          <a:p>
            <a:pPr lvl="1"/>
            <a:r>
              <a:rPr lang="pt-BR" b="1" dirty="0"/>
              <a:t>Autores</a:t>
            </a:r>
            <a:r>
              <a:rPr lang="pt-BR" dirty="0"/>
              <a:t>: Arthur Proença </a:t>
            </a:r>
            <a:r>
              <a:rPr lang="pt-BR" dirty="0" err="1"/>
              <a:t>Dorácio</a:t>
            </a:r>
            <a:r>
              <a:rPr lang="pt-BR" dirty="0"/>
              <a:t>,</a:t>
            </a:r>
          </a:p>
          <a:p>
            <a:pPr lvl="1"/>
            <a:r>
              <a:rPr lang="pt-BR" dirty="0"/>
              <a:t> Carlos Eduardo Paiva Santos,</a:t>
            </a:r>
          </a:p>
          <a:p>
            <a:pPr lvl="1"/>
            <a:r>
              <a:rPr lang="pt-BR" dirty="0"/>
              <a:t> Débora </a:t>
            </a:r>
            <a:r>
              <a:rPr lang="pt-BR" dirty="0" err="1"/>
              <a:t>Jakson</a:t>
            </a:r>
            <a:r>
              <a:rPr lang="pt-BR" dirty="0"/>
              <a:t> Guedes.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33634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E7DAF-27CB-8965-7603-83C66073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E96156-586F-B671-CBC8-469A8A825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pPr lvl="1"/>
            <a:r>
              <a:rPr lang="pt-BR" dirty="0"/>
              <a:t>O </a:t>
            </a:r>
            <a:r>
              <a:rPr lang="pt-BR" dirty="0" err="1"/>
              <a:t>Caramel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 é um aplicativo baseado em </a:t>
            </a:r>
            <a:r>
              <a:rPr lang="pt-BR" dirty="0" err="1"/>
              <a:t>quizzes</a:t>
            </a:r>
            <a:r>
              <a:rPr lang="pt-BR" dirty="0"/>
              <a:t> interativos que utiliza a gamificação para facilitar o ensino de lógica de programação e algoritmos para iniciantes.</a:t>
            </a:r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123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E52E3-1A96-611D-76D4-1E577D46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64B472-6A84-41B7-E028-ACB61A9FF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lvl="1"/>
            <a:r>
              <a:rPr lang="pt-BR" dirty="0"/>
              <a:t>Existe uma alta demanda por profissionais de tecnologia, mas muitos estudantes desistem  de aprender programação devido à complexidade das matérias para iniciantes .</a:t>
            </a:r>
            <a:endParaRPr lang="pt-BR" sz="2000" dirty="0"/>
          </a:p>
          <a:p>
            <a:pPr lvl="1"/>
            <a:r>
              <a:rPr lang="pt-BR" dirty="0"/>
              <a:t> Nesse contexto, torna-se necessária a adoção de métodos interativos que tornem o aprendizado mais acessível, motivador e eficiente para pessoas interessadas em aprender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285087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46476-1269-8B62-AE82-8850C6A56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Hipótese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70EF62-F07F-675C-F893-CD01975FE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aplicação da gamificação por meio de </a:t>
            </a:r>
            <a:r>
              <a:rPr lang="pt-BR" dirty="0" err="1"/>
              <a:t>quizzes</a:t>
            </a:r>
            <a:r>
              <a:rPr lang="pt-BR" dirty="0"/>
              <a:t> pode melhorar significativamente o ensino de programação, favorecendo a memorização e o raciocínio lógico</a:t>
            </a:r>
          </a:p>
        </p:txBody>
      </p:sp>
    </p:spTree>
    <p:extLst>
      <p:ext uri="{BB962C8B-B14F-4D97-AF65-F5344CB8AC3E}">
        <p14:creationId xmlns:p14="http://schemas.microsoft.com/office/powerpoint/2010/main" val="295690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D91DB-D361-7C3B-61F9-5019534E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DBA16B-32F3-1B28-716F-F1629BF83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pPr lvl="1"/>
            <a:r>
              <a:rPr lang="pt-BR" b="1" dirty="0"/>
              <a:t>Geral</a:t>
            </a:r>
            <a:r>
              <a:rPr lang="pt-BR" dirty="0"/>
              <a:t>: O objetivo geral é facilitar a memorização de conceitos e o desenvolvimento do raciocínio lógico através de uma abordagem lúdica e interativa</a:t>
            </a:r>
            <a:endParaRPr lang="pt-BR" sz="2000" dirty="0"/>
          </a:p>
          <a:p>
            <a:pPr lvl="1"/>
            <a:r>
              <a:rPr lang="pt-BR" b="1" dirty="0"/>
              <a:t>Metodologia</a:t>
            </a:r>
            <a:r>
              <a:rPr lang="pt-BR" dirty="0"/>
              <a:t>: Criação de um protótipo baseado em tecnologias web como HTML5, CSS3, </a:t>
            </a:r>
            <a:r>
              <a:rPr lang="pt-BR" dirty="0" err="1"/>
              <a:t>JavaScript</a:t>
            </a:r>
            <a:r>
              <a:rPr lang="pt-BR" dirty="0"/>
              <a:t> e banco de dados MySQL</a:t>
            </a:r>
          </a:p>
        </p:txBody>
      </p:sp>
    </p:spTree>
    <p:extLst>
      <p:ext uri="{BB962C8B-B14F-4D97-AF65-F5344CB8AC3E}">
        <p14:creationId xmlns:p14="http://schemas.microsoft.com/office/powerpoint/2010/main" val="95561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FDAE3-A02A-9F3E-7D71-9322E335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835"/>
            <a:ext cx="12191999" cy="962026"/>
          </a:xfrm>
        </p:spPr>
        <p:txBody>
          <a:bodyPr/>
          <a:lstStyle/>
          <a:p>
            <a:pPr algn="ctr"/>
            <a:r>
              <a:rPr lang="pt-BR" dirty="0"/>
              <a:t>Demonstração do produto</a:t>
            </a:r>
          </a:p>
        </p:txBody>
      </p:sp>
      <p:pic>
        <p:nvPicPr>
          <p:cNvPr id="4" name="image5.jpg">
            <a:extLst>
              <a:ext uri="{FF2B5EF4-FFF2-40B4-BE49-F238E27FC236}">
                <a16:creationId xmlns:a16="http://schemas.microsoft.com/office/drawing/2014/main" id="{725B3E66-3BB1-42DB-81EB-50B4DE1D2F6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85130" y="1201271"/>
            <a:ext cx="3962399" cy="51278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69408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993AF-D4FC-099C-FE33-FE4E310F4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4CF0F9-B1B5-5447-612F-ABDBFB2BE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pPr lvl="1"/>
            <a:r>
              <a:rPr lang="pt-BR" dirty="0"/>
              <a:t>O projeto concretizou a proposta de criar uma ferramenta auxiliar eficaz.</a:t>
            </a:r>
            <a:endParaRPr lang="pt-BR" sz="2000" dirty="0"/>
          </a:p>
          <a:p>
            <a:pPr lvl="1"/>
            <a:r>
              <a:rPr lang="pt-BR" dirty="0"/>
              <a:t>Permitiu concretizar a proposta de criar uma ferramenta auxiliar no ensino de lógica de programação e algoritmos, utilizando a gamificação como estratégia central para reduzir a complexidade inicial enfrentada por estudantes.</a:t>
            </a:r>
          </a:p>
          <a:p>
            <a:pPr lvl="1"/>
            <a:r>
              <a:rPr lang="pt-BR" dirty="0"/>
              <a:t> </a:t>
            </a:r>
            <a:r>
              <a:rPr lang="pt-BR" b="1" dirty="0"/>
              <a:t>Trabalhos Futuros</a:t>
            </a:r>
            <a:r>
              <a:rPr lang="pt-BR" dirty="0"/>
              <a:t>: Sugere-se expandir a biblioteca de conteúdos para novas linguagens.</a:t>
            </a:r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407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99719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045DA3F31EF14E926D779647768773" ma:contentTypeVersion="3" ma:contentTypeDescription="Crie um novo documento." ma:contentTypeScope="" ma:versionID="c043d003d03b2259804a9c3f233ebde4">
  <xsd:schema xmlns:xsd="http://www.w3.org/2001/XMLSchema" xmlns:xs="http://www.w3.org/2001/XMLSchema" xmlns:p="http://schemas.microsoft.com/office/2006/metadata/properties" xmlns:ns2="a46473bd-bd40-4470-a4a3-29ed24cd75ef" targetNamespace="http://schemas.microsoft.com/office/2006/metadata/properties" ma:root="true" ma:fieldsID="2b0f9bd6dbd3abec9d6b9b3e1786b64c" ns2:_="">
    <xsd:import namespace="a46473bd-bd40-4470-a4a3-29ed24cd75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473bd-bd40-4470-a4a3-29ed24cd75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AF5505-88BB-474F-87A4-666412F43E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F689CD-8E2E-4E18-938D-2441D67E94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6473bd-bd40-4470-a4a3-29ed24cd75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65AB63-4D31-45F4-8F9A-0C4F722820BD}">
  <ds:schemaRefs>
    <ds:schemaRef ds:uri="http://schemas.microsoft.com/office/2006/metadata/properties"/>
    <ds:schemaRef ds:uri="a46473bd-bd40-4470-a4a3-29ed24cd75ef"/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245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Verdana</vt:lpstr>
      <vt:lpstr>Personalizar design</vt:lpstr>
      <vt:lpstr>  Caramel Code: Aplicativo Educacional para Aprender Lógica e Algoritmos  </vt:lpstr>
      <vt:lpstr>Introdução</vt:lpstr>
      <vt:lpstr>Justificativa</vt:lpstr>
      <vt:lpstr>Hipótese</vt:lpstr>
      <vt:lpstr>Objetivos</vt:lpstr>
      <vt:lpstr>Demonstração do produto</vt:lpstr>
      <vt:lpstr>Conclusão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GUSTAVO HENRIQUE SILVA TOZONI</dc:creator>
  <cp:lastModifiedBy>Etec Pedro D'Arcádia Neto</cp:lastModifiedBy>
  <cp:revision>28</cp:revision>
  <dcterms:created xsi:type="dcterms:W3CDTF">2023-04-08T13:43:43Z</dcterms:created>
  <dcterms:modified xsi:type="dcterms:W3CDTF">2026-06-02T23:44:16Z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0x0101005A045DA3F31EF14E926D779647768773</vt:lpwstr>
  </property>
</Properties>
</file>